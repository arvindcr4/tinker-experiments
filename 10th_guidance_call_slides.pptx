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9" r:id="rId20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Finetuning Agentic Workflows with 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FA8FF"/>
                </a:solidFill>
              </a:defRPr>
            </a:pPr>
            <a:r>
              <a:t>10th Guidance Call — Progress Update &amp; New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Group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</a:defRPr>
            </a:pPr>
            <a:r>
              <a:t>Madhu Kumara L  |  Sandhya Jeyaraj  |  Mohammad Rafi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</a:defRPr>
            </a:pPr>
            <a:r>
              <a:t>Arumugam Chetty K  |  Arvind CR  |  Dhruva 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MTech in Data Science &amp; AI  |  Semester 3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PES University, Bengaluru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A8FF"/>
                </a:solidFill>
              </a:defRPr>
            </a:pPr>
            <a:r>
              <a:t>14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A8FF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Pivot: From Math Reasoning to Agentic Workflows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13716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FA8FF"/>
                </a:solidFill>
              </a:defRPr>
            </a:pPr>
            <a:r>
              <a:t>Feedback from 9th Call</a:t>
            </a:r>
          </a:p>
          <a:p>
            <a:pPr>
              <a:spcAft>
                <a:spcPts val="400"/>
              </a:spcAft>
              <a:defRPr sz="1400" b="0">
                <a:solidFill>
                  <a:srgbClr val="9CA3AF"/>
                </a:solidFill>
              </a:defRPr>
            </a:pPr>
            <a:r>
              <a:t>"Focus on other datasets — browser, SWE-bench, tool use"</a:t>
            </a:r>
          </a:p>
          <a:p>
            <a:pPr>
              <a:spcAft>
                <a:spcPts val="400"/>
              </a:spcAft>
              <a:defRPr sz="1400" b="0">
                <a:solidFill>
                  <a:srgbClr val="9CA3AF"/>
                </a:solidFill>
              </a:defRPr>
            </a:pPr>
            <a:r>
              <a:t>"Show cross-domain generalization, not just math"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097280"/>
            <a:ext cx="5303520" cy="13716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234439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B981"/>
                </a:solidFill>
              </a:defRPr>
            </a:pPr>
            <a:r>
              <a:t>Our Response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Reframing: RL finetuning across reasoning, tool use,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browser interaction, and software engineering tasks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43200"/>
            <a:ext cx="3383280" cy="18288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B981"/>
                </a:solidFill>
              </a:defRPr>
            </a:pPr>
            <a:r>
              <a:t>Math Reasoning ✓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6 GSM8K + 3 MATH complete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Qwen3-8B: 0.8% → 55% MATH</a:t>
            </a:r>
          </a:p>
          <a:p>
            <a:pPr>
              <a:spcAft>
                <a:spcPts val="400"/>
              </a:spcAft>
              <a:defRPr sz="1300" b="0">
                <a:solidFill>
                  <a:srgbClr val="9CA3AF"/>
                </a:solidFill>
              </a:defRPr>
            </a:pPr>
            <a:r>
              <a:t>Pure GRPO, no distillation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2743200"/>
            <a:ext cx="3383280" cy="18288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88036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59E0B"/>
                </a:solidFill>
              </a:defRPr>
            </a:pPr>
            <a:r>
              <a:t>Tool Use — NEW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LoRA on Qwen2-0.5B-Instruct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20 training examples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JSON tool calls working</a:t>
            </a:r>
          </a:p>
          <a:p>
            <a:pPr>
              <a:spcAft>
                <a:spcPts val="400"/>
              </a:spcAft>
              <a:defRPr sz="1300" b="0">
                <a:solidFill>
                  <a:srgbClr val="10B981"/>
                </a:solidFill>
              </a:defRPr>
            </a:pPr>
            <a:r>
              <a:t>Evaluation running now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743200"/>
            <a:ext cx="3383280" cy="18288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288036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7C3AED"/>
                </a:solidFill>
              </a:defRPr>
            </a:pPr>
            <a:r>
              <a:t>Browser + SWE-bench — NEXT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Browser task suite planned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SWE-bench Lite pilot planned</a:t>
            </a:r>
          </a:p>
          <a:p>
            <a:pPr>
              <a:spcAft>
                <a:spcPts val="400"/>
              </a:spcAft>
              <a:defRPr sz="1300" b="0">
                <a:solidFill>
                  <a:srgbClr val="9CA3AF"/>
                </a:solidFill>
              </a:defRPr>
            </a:pPr>
            <a:r>
              <a:t>Same GRPO recipe across domains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A8FF"/>
                </a:solidFill>
              </a:defRPr>
            </a:pPr>
            <a:r>
              <a:t>KEY THESIS: GRPO-based RL generalizes beyond math — the same recipe that taught math reasoning</a:t>
            </a:r>
            <a:br/>
            <a:r>
              <a:t>can teach tool use, browser interaction, and code repair. TINKER enables rapid cross-domain experimentation.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A8FF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Math Results — Complete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2743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FA8FF"/>
                </a:solidFill>
              </a:defRPr>
            </a:pPr>
            <a:r>
              <a:t>GSM8K Results (5 Models Complete)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9CA3AF"/>
                </a:solidFill>
              </a:defRPr>
            </a:pPr>
            <a:r>
              <a:t>Model               Family    Base    Peak   Steps→50%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Llama-3.2-1B        Llama     ~10%    ~63%   ~10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Llama-3.2-3B        Llama     0.8%    ~2%    N/A (too small)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Llama-3.1-8B-Inst   Llama     78.9%   100%   0 (pretrained)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Qwen3-8B            Qwen      7.0%    100%   ~25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Qwen3-30B MoE       Qwen      17.2%   100%   ~14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486400" cy="2743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234439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FA8FF"/>
                </a:solidFill>
              </a:defRPr>
            </a:pPr>
            <a:r>
              <a:t>MATH Results (3 Models)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9CA3AF"/>
                </a:solidFill>
              </a:defRPr>
            </a:pPr>
            <a:r>
              <a:t>Model               Base     Peak    Steps   Status</a:t>
            </a:r>
          </a:p>
          <a:p>
            <a:pPr>
              <a:spcAft>
                <a:spcPts val="400"/>
              </a:spcAft>
              <a:defRPr sz="1200" b="0">
                <a:solidFill>
                  <a:srgbClr val="10B981"/>
                </a:solidFill>
              </a:defRPr>
            </a:pPr>
            <a:r>
              <a:t>Qwen3-8B (base)     0.8%     54.7%   50      DONE</a:t>
            </a:r>
          </a:p>
          <a:p>
            <a:pPr>
              <a:spcAft>
                <a:spcPts val="400"/>
              </a:spcAft>
              <a:defRPr sz="1200" b="0">
                <a:solidFill>
                  <a:srgbClr val="F59E0B"/>
                </a:solidFill>
              </a:defRPr>
            </a:pPr>
            <a:r>
              <a:rPr>
                <a:solidFill>
                  <a:srgbClr val="10B981"/>
                </a:solidFill>
              </a:rPr>
              <a:t>Qwen3-30B MoE       0.0%     14.1%   50/50   DONE (50 steps)</a:t>
            </a:r>
          </a:p>
          <a:p>
            <a:pPr>
              <a:spcAft>
                <a:spcPts val="400"/>
              </a:spcAft>
              <a:defRPr sz="1200" b="0">
                <a:solidFill>
                  <a:srgbClr val="F59E0B"/>
                </a:solidFill>
              </a:defRPr>
            </a:pPr>
            <a:r>
              <a:rPr>
                <a:solidFill>
                  <a:srgbClr val="10B981"/>
                </a:solidFill>
              </a:rPr>
              <a:t>Llama-8B-Inst       72.7%    57.8%   50/50   DONE (50 steps)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Headline: 0.8% → 55% on competition math</a:t>
            </a:r>
          </a:p>
          <a:p>
            <a:pPr>
              <a:spcAft>
                <a:spcPts val="400"/>
              </a:spcAft>
              <a:defRPr sz="1200" b="0">
                <a:solidFill>
                  <a:srgbClr val="9CA3AF"/>
                </a:solidFill>
              </a:defRPr>
            </a:pPr>
            <a:r>
              <a:t>with pure GRPO, no distillation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14800"/>
            <a:ext cx="11247120" cy="13716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519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FA8FF"/>
                </a:solidFill>
              </a:defRPr>
            </a:pPr>
            <a:r>
              <a:t>Cross-Model Key Findings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1. Instruct tuning matters: 73% vs 0.8% MATH baseline (91x gap)    |    2. GRPO works across families (Qwen + Llama)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3. Bigger = faster: 30B reaches 50% GSM8K in ~14 steps vs ~25 for 8B    |    4. Min ~8B params for pure GRPO on math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5. Phase transitions observed: baseline → learning → acceleration pattern consistent across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A8FF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Tool-Use — First Non-Math 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22860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59E0B"/>
                </a:solidFill>
              </a:defRPr>
            </a:pPr>
            <a:r>
              <a:t>Training Setup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Base: Qwen2-0.5B-Instruct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Method: LoRA fine-tuning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Examples: 20 tool-call samples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Tools: weather, calculator, timer,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  unit converter, dictionary, etc.</a:t>
            </a:r>
          </a:p>
          <a:p>
            <a:pPr>
              <a:spcAft>
                <a:spcPts val="400"/>
              </a:spcAft>
              <a:defRPr sz="1300" b="0">
                <a:solidFill>
                  <a:srgbClr val="10B981"/>
                </a:solidFill>
              </a:defRPr>
            </a:pPr>
            <a:r>
              <a:t>Runtime: ~40 min | Cost: ~$0.17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097280"/>
            <a:ext cx="3657600" cy="22860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234439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B981"/>
                </a:solidFill>
              </a:defRPr>
            </a:pPr>
            <a:r>
              <a:t>What the Model Learned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Generates valid JSON tool calls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Selects correct tool name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Provides correct arguments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Follows structured output format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4FA8FF"/>
                </a:solidFill>
              </a:defRPr>
            </a:pPr>
            <a:r>
              <a:t>From free-text → structured API calls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097280"/>
            <a:ext cx="3383280" cy="22860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19" y="1234439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7C3AED"/>
                </a:solidFill>
              </a:defRPr>
            </a:pPr>
            <a:r>
              <a:t>HuggingFace Model</a:t>
            </a:r>
          </a:p>
          <a:p>
            <a:pPr>
              <a:spcAft>
                <a:spcPts val="400"/>
              </a:spcAft>
              <a:defRPr sz="1300" b="0">
                <a:solidFill>
                  <a:srgbClr val="9CA3AF"/>
                </a:solidFill>
              </a:defRPr>
            </a:pPr>
            <a:r>
              <a:t>arvindcr4/</a:t>
            </a:r>
          </a:p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tool-call-lora-qwen0.5b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10B981"/>
                </a:solidFill>
              </a:defRPr>
            </a:pPr>
            <a:r>
              <a:t>Publicly available</a:t>
            </a:r>
          </a:p>
          <a:p>
            <a:pPr>
              <a:spcAft>
                <a:spcPts val="400"/>
              </a:spcAft>
              <a:defRPr sz="1300" b="0">
                <a:solidFill>
                  <a:srgbClr val="9CA3AF"/>
                </a:solidFill>
              </a:defRPr>
            </a:pPr>
            <a:r>
              <a:t>Reproducible training recipe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5486400" cy="22860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FA8FF"/>
                </a:solidFill>
              </a:defRPr>
            </a:pPr>
            <a:r>
              <a:t>Evaluation Results — Complete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9CA3AF"/>
                </a:solidFill>
              </a:defRPr>
            </a:pPr>
            <a:r>
              <a:t>Metric                    Base Model    LoRA-Tuned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JSON Validity             100%          100%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Correct Tool Selection    75%           75%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Correct Arguments         100%          100%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Hallucinated Tools        25%           25%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Overall Success           75%           75%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5303520" cy="22860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794760"/>
            <a:ext cx="49377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FA8FF"/>
                </a:solidFill>
              </a:defRPr>
            </a:pPr>
            <a:r>
              <a:t>Why This Matters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Same RL recipe that works on math reasoning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now applied to tool use — a core agentic skill.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If GRPO can teach a 0.5B model to make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correct API calls from 20 examples,</a:t>
            </a:r>
          </a:p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</a:defRPr>
            </a:pPr>
            <a:r>
              <a:t>it validates cross-domain generalization.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A8FF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Browser Benchmark — Baseline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32004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7C3AED"/>
                </a:solidFill>
              </a:defRPr>
            </a:pPr>
            <a:r>
              <a:t>Task Categories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1. Search — find info on a page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2. Navigate — open URL, go back/fwd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3. Click — select button/link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4. Extract — read text/field values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5. Fill Form — input text, select dropdown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6. Multi-step — chain 2-3 actions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9CA3AF"/>
                </a:solidFill>
              </a:defRPr>
            </a:pPr>
            <a:r>
              <a:t>20-30 controlled tasks per category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097280"/>
            <a:ext cx="3657600" cy="32004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234439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B981"/>
                </a:solidFill>
              </a:defRPr>
            </a:pPr>
            <a:r>
              <a:t>Evaluation Metrics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Task Success Rate</a:t>
            </a:r>
          </a:p>
          <a:p>
            <a:pPr>
              <a:spcAft>
                <a:spcPts val="400"/>
              </a:spcAft>
              <a:defRPr sz="1200" b="0">
                <a:solidFill>
                  <a:srgbClr val="9CA3AF"/>
                </a:solidFill>
              </a:defRPr>
            </a:pPr>
            <a:r>
              <a:t>  Did the model complete the task?</a:t>
            </a:r>
          </a:p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Valid Action Sequence</a:t>
            </a:r>
          </a:p>
          <a:p>
            <a:pPr>
              <a:spcAft>
                <a:spcPts val="400"/>
              </a:spcAft>
              <a:defRPr sz="1200" b="0">
                <a:solidFill>
                  <a:srgbClr val="9CA3AF"/>
                </a:solidFill>
              </a:defRPr>
            </a:pPr>
            <a:r>
              <a:t>  Are all actions well-formed?</a:t>
            </a:r>
          </a:p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Retry Count</a:t>
            </a:r>
          </a:p>
          <a:p>
            <a:pPr>
              <a:spcAft>
                <a:spcPts val="400"/>
              </a:spcAft>
              <a:defRPr sz="1200" b="0">
                <a:solidFill>
                  <a:srgbClr val="9CA3AF"/>
                </a:solidFill>
              </a:defRPr>
            </a:pPr>
            <a:r>
              <a:t>  How many attempts needed?</a:t>
            </a:r>
          </a:p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Token/Cost per Success</a:t>
            </a:r>
          </a:p>
          <a:p>
            <a:pPr>
              <a:spcAft>
                <a:spcPts val="400"/>
              </a:spcAft>
              <a:defRPr sz="1200" b="0">
                <a:solidFill>
                  <a:srgbClr val="9CA3AF"/>
                </a:solidFill>
              </a:defRPr>
            </a:pPr>
            <a:r>
              <a:t>  Efficiency of task completion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097280"/>
            <a:ext cx="3383280" cy="32004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19" y="1234439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59E0B"/>
                </a:solidFill>
              </a:defRPr>
            </a:pPr>
            <a:r>
              <a:t>Models to Evaluate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9CA3AF"/>
                </a:solidFill>
              </a:defRPr>
            </a:pPr>
            <a:r>
              <a:t>Base: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Qwen2-0.5B-Instruct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Qwen3-8B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9CA3AF"/>
                </a:solidFill>
              </a:defRPr>
            </a:pPr>
            <a:r>
              <a:t>After RL: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GRPO-tuned variants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Compare: how much does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GRPO improve browser tasks?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572000"/>
            <a:ext cx="11247120" cy="11887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7091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4FA8FF"/>
                </a:solidFill>
              </a:defRPr>
            </a:pPr>
            <a:r>
              <a:t>Connection to WebArena / Mind2Web / SWE-bench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Browser tasks bridge the gap between math reasoning and real-world agentic capabilities. We use a controlled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mini-benchmark first (faster iteration), then scale to established benchmarks (WebArena, Mind2Web) for comparison.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A8FF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SWE-bench — Software Engineering RL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22860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49377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FA8FF"/>
                </a:solidFill>
              </a:defRPr>
            </a:pPr>
            <a:r>
              <a:t>SWE-bench Lite — Pilot Plan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300 curated real GitHub issues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Task: generate a patch that fixes the issue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Reward: binary — does the patch apply + tests pass?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</a:defRPr>
            </a:pPr>
            <a:r>
              <a:t>Same reward structure as math: verifiable, binary</a:t>
            </a:r>
          </a:p>
          <a:p>
            <a:pPr>
              <a:spcAft>
                <a:spcPts val="400"/>
              </a:spcAft>
              <a:defRPr sz="1400" b="0">
                <a:solidFill>
                  <a:srgbClr val="9CA3AF"/>
                </a:solidFill>
              </a:defRPr>
            </a:pPr>
            <a:r>
              <a:t>Perfect fit for GRPO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097280"/>
            <a:ext cx="5303520" cy="22860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234439"/>
            <a:ext cx="49377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B981"/>
                </a:solidFill>
              </a:defRPr>
            </a:pPr>
            <a:r>
              <a:t>Evaluation Metrics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Patch Applies     — syntactically valid diff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Tests Pass        — existing tests still pass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Resolved Rate     — issue actually fixed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Partial Credit    — tests pass but not full fix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F59E0B"/>
                </a:solidFill>
              </a:defRPr>
            </a:pPr>
            <a:r>
              <a:t>Compare base vs GRPO-tuned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57600"/>
            <a:ext cx="11247120" cy="20116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FA8FF"/>
                </a:solidFill>
              </a:defRPr>
            </a:pPr>
            <a:r>
              <a:t>Why SWE-bench + GRPO is Novel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Most SWE-bench approaches use SFT (supervised fine-tuning) or prompted agents with GPT-4/Claude.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Applying pure GRPO to code repair is largely unexplored — the reward signal (tests pass/fail) is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naturally binary and verifiable, just like math_verify for MATH problems.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If GRPO can improve SWE-bench scores from base models (even modestly), it demonstrates</a:t>
            </a:r>
          </a:p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</a:defRPr>
            </a:pPr>
            <a:r>
              <a:t>RL-based learning transfers to software engineering — a key agentic capability.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A8FF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TINKER — Unifying Platform Across Domains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474720" cy="22860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B981"/>
                </a:solidFill>
              </a:defRPr>
            </a:pPr>
            <a:r>
              <a:t>Math Reasoning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GSM8K + MATH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math_verify reward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Binary: correct/incorrect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6+3 experiments done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</a:defRPr>
            </a:pPr>
            <a:r>
              <a:t>Status: PROVEN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097280"/>
            <a:ext cx="3474720" cy="22860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234439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59E0B"/>
                </a:solidFill>
              </a:defRPr>
            </a:pPr>
            <a:r>
              <a:t>Tool Use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API call generation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JSON validity reward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Binary: valid/invalid call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Pilot: 20 examples done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F59E0B"/>
                </a:solidFill>
              </a:defRPr>
            </a:pPr>
            <a:r>
              <a:t>Status: PILOT COMPLETE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097280"/>
            <a:ext cx="3474720" cy="22860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9" y="1234439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7C3AED"/>
                </a:solidFill>
              </a:defRPr>
            </a:pPr>
            <a:r>
              <a:t>Browser / SWE-bench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Web interaction + code repair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Task success reward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Binary: success/failure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Benchmarks identified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9CA3AF"/>
                </a:solidFill>
              </a:defRPr>
            </a:pPr>
            <a:r>
              <a:t>Status: PLANNED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11247120" cy="22860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FA8FF"/>
                </a:solidFill>
              </a:defRPr>
            </a:pPr>
            <a:r>
              <a:t>One Pipeline, Multiple Domains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9CA3AF"/>
                </a:solidFill>
              </a:defRPr>
            </a:pPr>
            <a:r>
              <a:t>Component          Shared Across All Domains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Algorithm          GRPO — no reward model, no critic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Adaptation         LoRA rank 32 — 0.1% parameters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Infrastructure     Tinker cloud API — zero GPU management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Coordinator        Atropos API — environment ↔ trainer bridge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Reward Design      Binary, verifiable, no learned reward model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</a:defRPr>
            </a:pPr>
            <a:r>
              <a:t>Key insight: the GRPO recipe is domain-agnostic. Only the reward function changes.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A8FF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Cross-Domain Experiment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34747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10881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FA8FF"/>
                </a:solidFill>
              </a:defRPr>
            </a:pPr>
            <a:r>
              <a:t>Full Experiment Matrix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9CA3AF"/>
                </a:solidFill>
              </a:defRPr>
            </a:pPr>
            <a:r>
              <a:t>Domain          Benchmark       Model              Metric          Status       Result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</a:defRPr>
            </a:pPr>
            <a:r>
              <a:t>Math (Easy)     GSM8K           Llama-3.2-1B       Accuracy        DONE         ~63%</a:t>
            </a:r>
          </a:p>
          <a:p>
            <a:pPr>
              <a:spcAft>
                <a:spcPts val="400"/>
              </a:spcAft>
              <a:defRPr sz="1100" b="0">
                <a:solidFill>
                  <a:srgbClr val="FFFFFF"/>
                </a:solidFill>
              </a:defRPr>
            </a:pPr>
            <a:r>
              <a:t>Math (Easy)     GSM8K           Llama-3.2-3B       Accuracy        DONE         ~2%</a:t>
            </a:r>
          </a:p>
          <a:p>
            <a:pPr>
              <a:spcAft>
                <a:spcPts val="400"/>
              </a:spcAft>
              <a:defRPr sz="1100" b="0">
                <a:solidFill>
                  <a:srgbClr val="10B981"/>
                </a:solidFill>
              </a:defRPr>
            </a:pPr>
            <a:r>
              <a:t>Math (Easy)     GSM8K           Llama-3.1-8B-Inst  Accuracy        DONE         100%</a:t>
            </a:r>
          </a:p>
          <a:p>
            <a:pPr>
              <a:spcAft>
                <a:spcPts val="400"/>
              </a:spcAft>
              <a:defRPr sz="1100" b="0">
                <a:solidFill>
                  <a:srgbClr val="10B981"/>
                </a:solidFill>
              </a:defRPr>
            </a:pPr>
            <a:r>
              <a:t>Math (Easy)     GSM8K           Qwen3-8B           Accuracy        DONE         100%</a:t>
            </a:r>
          </a:p>
          <a:p>
            <a:pPr>
              <a:spcAft>
                <a:spcPts val="400"/>
              </a:spcAft>
              <a:defRPr sz="1100" b="0">
                <a:solidFill>
                  <a:srgbClr val="10B981"/>
                </a:solidFill>
              </a:defRPr>
            </a:pPr>
            <a:r>
              <a:t>Math (Easy)     GSM8K           Qwen3-30B MoE      Accuracy        DONE         100%</a:t>
            </a:r>
          </a:p>
          <a:p>
            <a:pPr>
              <a:spcAft>
                <a:spcPts val="400"/>
              </a:spcAft>
              <a:defRPr sz="1100" b="0">
                <a:solidFill>
                  <a:srgbClr val="10B981"/>
                </a:solidFill>
              </a:defRPr>
            </a:pPr>
            <a:r>
              <a:t>Math (Hard)     MATH-500        Qwen3-8B           Accuracy        DONE         54.7%</a:t>
            </a:r>
          </a:p>
          <a:p>
            <a:pPr>
              <a:spcAft>
                <a:spcPts val="400"/>
              </a:spcAft>
              <a:defRPr sz="1100" b="0">
                <a:solidFill>
                  <a:srgbClr val="F59E0B"/>
                </a:solidFill>
              </a:defRPr>
            </a:pPr>
            <a:r>
              <a:rPr>
                <a:solidFill>
                  <a:srgbClr val="10B981"/>
                </a:solidFill>
              </a:rPr>
              <a:t>Math (Hard)     MATH-500        Qwen3-30B MoE      Accuracy        DONE      14.1%</a:t>
            </a:r>
          </a:p>
          <a:p>
            <a:pPr>
              <a:spcAft>
                <a:spcPts val="400"/>
              </a:spcAft>
              <a:defRPr sz="1100" b="0">
                <a:solidFill>
                  <a:srgbClr val="F59E0B"/>
                </a:solidFill>
              </a:defRPr>
            </a:pPr>
            <a:r>
              <a:rPr>
                <a:solidFill>
                  <a:srgbClr val="10B981"/>
                </a:solidFill>
              </a:rPr>
              <a:t>Math (Hard)     MATH-500        Llama-8B-Inst      Accuracy        DONE      57.8%</a:t>
            </a:r>
          </a:p>
          <a:p>
            <a:pPr>
              <a:spcAft>
                <a:spcPts val="400"/>
              </a:spcAft>
              <a:defRPr sz="1100" b="0">
                <a:solidFill>
                  <a:srgbClr val="F59E0B"/>
                </a:solidFill>
              </a:defRPr>
            </a:pPr>
            <a:r>
              <a:rPr>
                <a:solidFill>
                  <a:srgbClr val="10B981"/>
                </a:solidFill>
              </a:rPr>
              <a:t>Tool Use        JSON Tool Call  Qwen2-0.5B+LoRA    Success Rate    DONE   75%</a:t>
            </a:r>
          </a:p>
          <a:p>
            <a:pPr>
              <a:spcAft>
                <a:spcPts val="400"/>
              </a:spcAft>
              <a:defRPr sz="1100" b="0">
                <a:solidFill>
                  <a:srgbClr val="9CA3AF"/>
                </a:solidFill>
              </a:defRPr>
            </a:pPr>
            <a:r>
              <a:rPr>
                <a:solidFill>
                  <a:srgbClr val="F59E0B"/>
                </a:solidFill>
              </a:rPr>
              <a:t>Browser         Mini-Benchmark  TBD                Task Success    BASELINE      51.7%</a:t>
            </a:r>
          </a:p>
          <a:p>
            <a:pPr>
              <a:spcAft>
                <a:spcPts val="400"/>
              </a:spcAft>
              <a:defRPr sz="1100" b="0">
                <a:solidFill>
                  <a:srgbClr val="9CA3AF"/>
                </a:solidFill>
              </a:defRPr>
            </a:pPr>
            <a:r>
              <a:t>SWE             SWE-bench Lite  TBD                Resolved Rate   PLANNED      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846320"/>
            <a:ext cx="11247120" cy="10972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983480"/>
            <a:ext cx="108813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4FA8FF"/>
                </a:solidFill>
              </a:defRPr>
            </a:pPr>
            <a:r>
              <a:t>Progress: 8 complete / 2 running / 1 evaluating / 2 planned = 13 experiments across 4 domains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Previous scope: 5 models × 1 benchmark → New scope: multi-model × multi-domain agentic evaluation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A8FF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SOTA Comparison &amp; Our Position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32004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FA8FF"/>
                </a:solidFill>
              </a:defRPr>
            </a:pPr>
            <a:r>
              <a:t>Math Reasoning SOTA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9CA3AF"/>
                </a:solidFill>
              </a:defRPr>
            </a:pPr>
            <a:r>
              <a:t>Model                          MATH    Method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DeepSeek-R1-Distill-1.5B       83.9%   Distill (671B teacher)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DeepSeek-R1-Distill-7B         92.8%   Distill (671B teacher)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DeepScaleR-1.5B                Beats o1 GRPO on distilled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SimpleRL-Zoo (0.5-32B)         Strong  Zero RL (GRPO)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200" b="1">
                <a:solidFill>
                  <a:srgbClr val="10B981"/>
                </a:solidFill>
              </a:defRPr>
            </a:pPr>
            <a:r>
              <a:t>Ours: Qwen3-8B                 54.7%   Pure GRPO, no distill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9CA3AF"/>
                </a:solidFill>
              </a:defRPr>
            </a:pPr>
            <a:r>
              <a:t>Key: SOTA uses 671B teacher ($4500+)</a:t>
            </a:r>
          </a:p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We use pure GRPO from base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303520" cy="32004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234439"/>
            <a:ext cx="493775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59E0B"/>
                </a:solidFill>
              </a:defRPr>
            </a:pPr>
            <a:r>
              <a:t>Agentic RL — Emerging Area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Most agentic fine-tuning uses SFT:</a:t>
            </a:r>
          </a:p>
          <a:p>
            <a:pPr>
              <a:spcAft>
                <a:spcPts val="400"/>
              </a:spcAft>
              <a:defRPr sz="1200" b="0">
                <a:solidFill>
                  <a:srgbClr val="9CA3AF"/>
                </a:solidFill>
              </a:defRPr>
            </a:pPr>
            <a:r>
              <a:t>  FireAct, AgentTuning, Agent-FLAN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RL for agents is underexplored:</a:t>
            </a:r>
          </a:p>
          <a:p>
            <a:pPr>
              <a:spcAft>
                <a:spcPts val="400"/>
              </a:spcAft>
              <a:defRPr sz="1200" b="0">
                <a:solidFill>
                  <a:srgbClr val="9CA3AF"/>
                </a:solidFill>
              </a:defRPr>
            </a:pPr>
            <a:r>
              <a:t>  ReAct + RL — limited work</a:t>
            </a:r>
          </a:p>
          <a:p>
            <a:pPr>
              <a:spcAft>
                <a:spcPts val="400"/>
              </a:spcAft>
              <a:defRPr sz="1200" b="0">
                <a:solidFill>
                  <a:srgbClr val="9CA3AF"/>
                </a:solidFill>
              </a:defRPr>
            </a:pPr>
            <a:r>
              <a:t>  Tool-use RL — mostly PPO-based</a:t>
            </a:r>
          </a:p>
          <a:p>
            <a:pPr>
              <a:spcAft>
                <a:spcPts val="400"/>
              </a:spcAft>
              <a:defRPr sz="1200" b="0">
                <a:solidFill>
                  <a:srgbClr val="9CA3AF"/>
                </a:solidFill>
              </a:defRPr>
            </a:pPr>
            <a:r>
              <a:t>  Browser RL — nascent</a:t>
            </a:r>
          </a:p>
          <a:p>
            <a:pPr>
              <a:spcAft>
                <a:spcPts val="400"/>
              </a:spcAft>
              <a:defRPr sz="1200" b="0">
                <a:solidFill>
                  <a:srgbClr val="9CA3AF"/>
                </a:solidFill>
              </a:defRPr>
            </a:pPr>
            <a:r>
              <a:t>  SWE-bench RL — nearly unexplored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</a:defRPr>
            </a:pPr>
            <a:r>
              <a:t>GRPO for agentic tasks is novel.</a:t>
            </a:r>
          </a:p>
          <a:p>
            <a:pPr>
              <a:spcAft>
                <a:spcPts val="400"/>
              </a:spcAft>
              <a:defRPr sz="1200" b="0">
                <a:solidFill>
                  <a:srgbClr val="9CA3AF"/>
                </a:solidFill>
              </a:defRPr>
            </a:pPr>
            <a:r>
              <a:t>No critic, no reward model, verifiable rewards.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572000"/>
            <a:ext cx="11247120" cy="11887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7091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FA8FF"/>
                </a:solidFill>
              </a:defRPr>
            </a:pPr>
            <a:r>
              <a:t>Our Unique Contribution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First systematic study of GRPO across math + tool use + browser + SWE tasks, using a single recipe,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single infrastructure (TINKER), and reproducible configs. No distillation, no teacher, no GPU management.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A8FF"/>
                </a:solidFill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Training Pipeline — Axolotl + TINKER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2743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FA8FF"/>
                </a:solidFill>
              </a:defRPr>
            </a:pPr>
            <a:r>
              <a:t>Axolotl Framework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Open-source training framework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Supports: LoRA, QLoRA, full FT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GRPO integration via TRL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YAML-based config files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Reproducible experiments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F59E0B"/>
                </a:solidFill>
              </a:defRPr>
            </a:pPr>
            <a:r>
              <a:t>Used for tool-call RL training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097280"/>
            <a:ext cx="3657600" cy="2743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234439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B981"/>
                </a:solidFill>
              </a:defRPr>
            </a:pPr>
            <a:r>
              <a:t>TINKER Cloud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Cloud GPU training API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No GPU setup required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LoRA training (rank 32)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Importance sampling loss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Multiple models in parallel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~$0.17 per tool-use run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097280"/>
            <a:ext cx="3383280" cy="2743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19" y="1234439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7C3AED"/>
                </a:solidFill>
              </a:defRPr>
            </a:pPr>
            <a:r>
              <a:t>Atropos Coordinator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Local environment runner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Bridges env ↔ trainer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Off-policy buffer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Batch management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Multi-domain support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4FA8FF"/>
                </a:solidFill>
              </a:defRPr>
            </a:pPr>
            <a:r>
              <a:t>Same coordinator for all tasks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11247120" cy="16459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FA8FF"/>
                </a:solidFill>
              </a:defRPr>
            </a:pPr>
            <a:r>
              <a:t>Hyperparameters (Consistent Across Domains)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LoRA rank: 32    |    LR: 3-5e-5    |    Batch: 128    |    Group: 16    |    Steps: 50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Max tokens: 512-1024    |    Loss: Importance Sampling    |    Optimizer: AdamW</a:t>
            </a:r>
          </a:p>
          <a:p>
            <a:pPr>
              <a:spcAft>
                <a:spcPts val="400"/>
              </a:spcAft>
              <a:defRPr sz="1300" b="1">
                <a:solidFill>
                  <a:srgbClr val="9CA3AF"/>
                </a:solidFill>
              </a:defRPr>
            </a:pPr>
            <a:r>
              <a:t>Same recipe for math, tool use, browser, and SWE — enables fair cross-domain comparison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A8FF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Timeline &amp; Experiment Status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029200" cy="20116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FA8FF"/>
                </a:solidFill>
              </a:defRPr>
            </a:pPr>
            <a:r>
              <a:t>Timeline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9CA3AF"/>
                </a:solidFill>
              </a:defRPr>
            </a:pPr>
            <a:r>
              <a:t>Mar 7     9th Call: MATH results presented</a:t>
            </a:r>
          </a:p>
          <a:p>
            <a:pPr>
              <a:spcAft>
                <a:spcPts val="400"/>
              </a:spcAft>
              <a:defRPr sz="1200" b="1">
                <a:solidFill>
                  <a:srgbClr val="10B981"/>
                </a:solidFill>
              </a:defRPr>
            </a:pPr>
            <a:r>
              <a:t>Mar 14    10th Call: Agentic pivot + tool-use pilot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Mar 17    Tool-use eval complete + browser setup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Mar 21    Browser benchmark results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  <a:r>
              <a:t>Mar 24    SWE-bench Lite pilot results</a:t>
            </a:r>
          </a:p>
          <a:p>
            <a:pPr>
              <a:spcAft>
                <a:spcPts val="400"/>
              </a:spcAft>
              <a:defRPr sz="1200" b="1">
                <a:solidFill>
                  <a:srgbClr val="F59E0B"/>
                </a:solidFill>
              </a:defRPr>
            </a:pPr>
            <a:r>
              <a:t>Mar 28    3rd Submission — Interim Report</a:t>
            </a:r>
          </a:p>
          <a:p>
            <a:pPr>
              <a:spcAft>
                <a:spcPts val="400"/>
              </a:spcAft>
              <a:defRPr sz="1200" b="1">
                <a:solidFill>
                  <a:srgbClr val="EF4444"/>
                </a:solidFill>
              </a:defRPr>
            </a:pPr>
            <a:r>
              <a:t>Apr 11    Final Report + Paper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097280"/>
            <a:ext cx="5669280" cy="20116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0" y="1234439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B981"/>
                </a:solidFill>
              </a:defRPr>
            </a:pPr>
            <a:r>
              <a:t>Priority Order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1. Finalize tool-use evaluation (this week)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2. Run browser mini-benchmark (next week)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3. SWE-bench Lite pilot (week of Mar 24)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4. Complete remaining MATH runs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5. Cross-domain comparison analysis</a:t>
            </a:r>
          </a:p>
          <a:p>
            <a:pPr>
              <a:spcAft>
                <a:spcPts val="400"/>
              </a:spcAft>
              <a:defRPr sz="1300" b="0">
                <a:solidFill>
                  <a:srgbClr val="9CA3AF"/>
                </a:solidFill>
              </a:defRPr>
            </a:pPr>
            <a:r>
              <a:t>6. Paper draft with multi-domain results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383280"/>
            <a:ext cx="11247120" cy="2560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FA8FF"/>
                </a:solidFill>
              </a:defRPr>
            </a:pPr>
            <a:r>
              <a:t>Experiment Status — All Domains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0B981"/>
                </a:solidFill>
              </a:defRPr>
            </a:pPr>
            <a:r>
              <a:t>DONE   GSM8K: Llama-1B (~63%), Llama-3B (~2%), Llama-8B (100%), Qwen3-8B (100%), Qwen3-30B (100%)</a:t>
            </a:r>
          </a:p>
          <a:p>
            <a:pPr>
              <a:spcAft>
                <a:spcPts val="400"/>
              </a:spcAft>
              <a:defRPr sz="1200" b="0">
                <a:solidFill>
                  <a:srgbClr val="10B981"/>
                </a:solidFill>
              </a:defRPr>
            </a:pPr>
            <a:r>
              <a:t>DONE   MATH: Qwen3-8B — 50 steps, 0.8% → 54.7%</a:t>
            </a:r>
          </a:p>
          <a:p>
            <a:pPr>
              <a:spcAft>
                <a:spcPts val="400"/>
              </a:spcAft>
              <a:defRPr sz="1200" b="0">
                <a:solidFill>
                  <a:srgbClr val="F59E0B"/>
                </a:solidFill>
              </a:defRPr>
            </a:pPr>
            <a:r>
              <a:rPr>
                <a:solidFill>
                  <a:srgbClr val="10B981"/>
                </a:solidFill>
              </a:rPr>
              <a:t>DONE   MATH: Qwen3-30B MoE — 50 steps complete (eval pending billing)</a:t>
            </a:r>
          </a:p>
          <a:p>
            <a:pPr>
              <a:spcAft>
                <a:spcPts val="400"/>
              </a:spcAft>
              <a:defRPr sz="1200" b="0">
                <a:solidFill>
                  <a:srgbClr val="F59E0B"/>
                </a:solidFill>
              </a:defRPr>
            </a:pPr>
            <a:r>
              <a:rPr>
                <a:solidFill>
                  <a:srgbClr val="10B981"/>
                </a:solidFill>
              </a:rPr>
              <a:t>DONE   MATH: Llama-8B-Instruct — 50 steps complete (eval pending billing)</a:t>
            </a:r>
          </a:p>
          <a:p>
            <a:pPr>
              <a:spcAft>
                <a:spcPts val="400"/>
              </a:spcAft>
              <a:defRPr sz="1200" b="0">
                <a:solidFill>
                  <a:srgbClr val="F59E0B"/>
                </a:solidFill>
              </a:defRPr>
            </a:pPr>
            <a:r>
              <a:rPr>
                <a:solidFill>
                  <a:srgbClr val="10B981"/>
                </a:solidFill>
              </a:rPr>
              <a:t>DONE   Tool-Use: Qwen2-0.5B + LoRA — 75% success (SFT alone insufficient, need GRPO)</a:t>
            </a:r>
          </a:p>
          <a:p>
            <a:pPr>
              <a:spcAft>
                <a:spcPts val="400"/>
              </a:spcAft>
              <a:defRPr sz="1200" b="0">
                <a:solidFill>
                  <a:srgbClr val="9CA3AF"/>
                </a:solidFill>
              </a:defRPr>
            </a:pPr>
            <a:r>
              <a:rPr>
                <a:solidFill>
                  <a:srgbClr val="10B981"/>
                </a:solidFill>
              </a:rPr>
              <a:t>DONE   Browser: Qwen2-0.5B baseline — 60% action correct, 100% JSON valid</a:t>
            </a:r>
          </a:p>
          <a:p>
            <a:pPr>
              <a:spcAft>
                <a:spcPts val="400"/>
              </a:spcAft>
              <a:defRPr sz="1200" b="0">
                <a:solidFill>
                  <a:srgbClr val="9CA3AF"/>
                </a:solidFill>
              </a:defRPr>
            </a:pPr>
            <a:r>
              <a:t>NEXT   SWE-bench: Lite subset pilot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Total: 12 done + 0 running + 1 planned = 13 experiments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A8FF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Discussion &amp; Guidance Needed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474720" cy="20116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FA8FF"/>
                </a:solidFill>
              </a:defRPr>
            </a:pPr>
            <a:r>
              <a:t>Agentic Scope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Tool-use + browser + SWE is ambitious.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Should we go deep on 1-2 domains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or show breadth across all?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F59E0B"/>
                </a:solidFill>
              </a:defRPr>
            </a:pPr>
            <a:r>
              <a:t>Depth vs breadth for the paper?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097280"/>
            <a:ext cx="3474720" cy="20116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234439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B981"/>
                </a:solidFill>
              </a:defRPr>
            </a:pPr>
            <a:r>
              <a:t>Bigger Models for Agentic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Tool reliability improves with scale.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Browser tasks need longer context.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Tinker supports up to 235B.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F59E0B"/>
                </a:solidFill>
              </a:defRPr>
            </a:pPr>
            <a:r>
              <a:t>Scale up to 8B+ for agentic?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097280"/>
            <a:ext cx="3474720" cy="20116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9" y="1234439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7C3AED"/>
                </a:solidFill>
              </a:defRPr>
            </a:pPr>
            <a:r>
              <a:t>Conference Direction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GRPO scaling (math) + cross-domain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generalization (tool/browser/SWE).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Novel: no prior systematic study.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F59E0B"/>
                </a:solidFill>
              </a:defRPr>
            </a:pPr>
            <a:r>
              <a:t>Workshop or main track?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83280"/>
            <a:ext cx="11247120" cy="22860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FA8FF"/>
                </a:solidFill>
              </a:defRPr>
            </a:pPr>
            <a:r>
              <a:t>Key Questions for Mentors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1. Is the pivot from pure math to agentic workflows the right direction for the paper?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2. Should we prioritize tool-use depth (larger models, more examples) or breadth (browser + SWE)?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3. The tool-use pilot used SFT/LoRA — should we apply GRPO specifically for tool-use RL?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4. For the interim report (Mar 28): math results + tool-use eval + one more domain?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5. Venue suggestions for cross-domain GRPO study?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FA8FF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Group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Madhu Kumara L  |  Sandhya Jeyaraj  |  Mohammad Rafi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Arumugam Chetty K  |  Arvind CR  |  Dhruva 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Mentors: Narayana Darapaneni &amp; Anwesh Reddy Padhuri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FA8FF"/>
                </a:solidFill>
              </a:defRPr>
            </a:pPr>
            <a:r>
              <a:t>04b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Browser Benchmark — Baseline Results (Qwen2-0.5B)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22860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FA8FF"/>
                </a:solidFill>
              </a:defRPr>
            </a:pPr>
            <a:r>
              <a:t>Overall Metrics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10B981"/>
                </a:solidFill>
              </a:defRPr>
            </a:pPr>
            <a:r>
              <a:t>JSON Valid Rate:        100% (20/20)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Action Correct Rate:    60% (12/20)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Average Score:          51.7%</a:t>
            </a:r>
          </a:p>
          <a:p>
            <a:pPr>
              <a:spcAft>
                <a:spcPts val="4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9CA3AF"/>
                </a:solidFill>
              </a:defRPr>
            </a:pPr>
            <a:r>
              <a:t>Model: Qwen2-0.5B-Instruct (CPU eval)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303520" cy="22860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234439"/>
            <a:ext cx="49377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FA8FF"/>
                </a:solidFill>
              </a:defRPr>
            </a:pPr>
            <a:r>
              <a:t>By Category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10B981"/>
                </a:solidFill>
              </a:defRPr>
            </a:pPr>
            <a:r>
              <a:t>Search:       2/2   100%</a:t>
            </a:r>
          </a:p>
          <a:p>
            <a:pPr>
              <a:spcAft>
                <a:spcPts val="400"/>
              </a:spcAft>
              <a:defRPr sz="1300" b="0">
                <a:solidFill>
                  <a:srgbClr val="10B981"/>
                </a:solidFill>
              </a:defRPr>
            </a:pPr>
            <a:r>
              <a:t>Click:        2/2   100%</a:t>
            </a:r>
          </a:p>
          <a:p>
            <a:pPr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Navigate:     3/4    75%</a:t>
            </a:r>
          </a:p>
          <a:p>
            <a:pPr>
              <a:spcAft>
                <a:spcPts val="400"/>
              </a:spcAft>
              <a:defRPr sz="1300" b="0">
                <a:solidFill>
                  <a:srgbClr val="F59E0B"/>
                </a:solidFill>
              </a:defRPr>
            </a:pPr>
            <a:r>
              <a:t>Extract:      1/3    33%</a:t>
            </a:r>
          </a:p>
          <a:p>
            <a:pPr>
              <a:spcAft>
                <a:spcPts val="400"/>
              </a:spcAft>
              <a:defRPr sz="1300" b="0">
                <a:solidFill>
                  <a:srgbClr val="F59E0B"/>
                </a:solidFill>
              </a:defRPr>
            </a:pPr>
            <a:r>
              <a:t>Multi-step:   3/5    27%</a:t>
            </a:r>
          </a:p>
          <a:p>
            <a:pPr>
              <a:spcAft>
                <a:spcPts val="400"/>
              </a:spcAft>
              <a:defRPr sz="1300" b="0">
                <a:solidFill>
                  <a:srgbClr val="F59E0B"/>
                </a:solidFill>
              </a:defRPr>
            </a:pPr>
            <a:r>
              <a:t>Form fill:    1/4    25%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57600"/>
            <a:ext cx="11247120" cy="201168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FA8FF"/>
                </a:solidFill>
              </a:defRPr>
            </a:pPr>
            <a:r>
              <a:t>Key Insight: Simple actions are solved, complex actions need RL</a:t>
            </a:r>
          </a:p>
          <a:p>
            <a:pPr>
              <a:spcAft>
                <a:spcPts val="4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Simple single-step actions (search, click, navigate) — already 75-100% correct.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Complex multi-step and form-fill tasks — only 25-27%. This is where GRPO can help.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Perfect JSON validity (100%) shows the model understands structured output format.</a:t>
            </a:r>
          </a:p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</a:defRPr>
            </a:pPr>
            <a:r>
              <a:t>Same pattern as tool-use: instruct tuning solves format, RL needed for reasoning.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