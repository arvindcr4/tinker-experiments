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Reinforcement Learning for LLMs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</a:defRPr>
            </a:pPr>
            <a:r>
              <a:t>Training Language Models with Tinker</a:t>
            </a:r>
            <a:br/>
            <a:br/>
            <a:r>
              <a:t>PES LLM Research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What is Tinker?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Cloud-based RL training platform for LLMs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Supports LoRA fine-tuning with reinforcement learning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Pre-built recipes: Math RL, Preference, Distillation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No GPU required locally - training runs in the cloud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Python SDK with simple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How Tinker Works: Cloud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371600"/>
            <a:ext cx="2011680" cy="1188720"/>
          </a:xfrm>
          <a:prstGeom prst="roundRect">
            <a:avLst/>
          </a:prstGeom>
          <a:solidFill>
            <a:srgbClr val="F0F0F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A1A2E"/>
                </a:solidFill>
              </a:defRPr>
            </a:pPr>
            <a:r>
              <a:t>Your Code</a:t>
            </a:r>
            <a:br/>
            <a:r>
              <a:t>(Python SDK)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2926080"/>
            <a:ext cx="2011680" cy="731520"/>
          </a:xfrm>
          <a:prstGeom prst="roundRect">
            <a:avLst/>
          </a:prstGeom>
          <a:solidFill>
            <a:srgbClr val="FF8C0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API Key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097280"/>
            <a:ext cx="5943600" cy="4572000"/>
          </a:xfrm>
          <a:prstGeom prst="roundRect">
            <a:avLst/>
          </a:prstGeom>
          <a:solidFill>
            <a:srgbClr val="E8F4FC"/>
          </a:solidFill>
          <a:ln w="25400">
            <a:solidFill>
              <a:srgbClr val="4169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169E1"/>
                </a:solidFill>
              </a:defRPr>
            </a:pPr>
            <a:r>
              <a:t>☁️ Tinker Cloud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828800"/>
            <a:ext cx="1828800" cy="914400"/>
          </a:xfrm>
          <a:prstGeom prst="roundRect">
            <a:avLst/>
          </a:prstGeom>
          <a:solidFill>
            <a:srgbClr val="4169E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API Gateway</a:t>
            </a:r>
            <a:br/>
            <a:r>
              <a:t>&amp; Auth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828800"/>
            <a:ext cx="1828800" cy="914400"/>
          </a:xfrm>
          <a:prstGeom prst="roundRect">
            <a:avLst/>
          </a:prstGeom>
          <a:solidFill>
            <a:srgbClr val="6F42C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Model</a:t>
            </a:r>
            <a:br/>
            <a:r>
              <a:t>Registry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3200400"/>
            <a:ext cx="1828800" cy="1097280"/>
          </a:xfrm>
          <a:prstGeom prst="roundRect">
            <a:avLst/>
          </a:prstGeom>
          <a:solidFill>
            <a:srgbClr val="28A745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Training</a:t>
            </a:r>
            <a:br/>
            <a:r>
              <a:t>Orchestrator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3200400"/>
            <a:ext cx="1828800" cy="1097280"/>
          </a:xfrm>
          <a:prstGeom prst="roundRect">
            <a:avLst/>
          </a:prstGeom>
          <a:solidFill>
            <a:srgbClr val="FF8C0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GPU</a:t>
            </a:r>
            <a:br/>
            <a:r>
              <a:t>Cluster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754880"/>
            <a:ext cx="2286000" cy="822960"/>
          </a:xfrm>
          <a:prstGeom prst="roundRect">
            <a:avLst/>
          </a:prstGeom>
          <a:solidFill>
            <a:srgbClr val="666666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Checkpoint</a:t>
            </a:r>
            <a:br/>
            <a:r>
              <a:t>Storage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86000" y="1828800"/>
            <a:ext cx="82296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5029200" y="2148840"/>
            <a:ext cx="36576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3977639" y="2788920"/>
            <a:ext cx="228600" cy="36576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5029200" y="3611880"/>
            <a:ext cx="36576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349240" y="4343400"/>
            <a:ext cx="228600" cy="36576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86000" y="14630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requests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17830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346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schedule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46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3891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save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5852160"/>
            <a:ext cx="8595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666666"/>
                </a:solidFill>
              </a:defRPr>
            </a:pPr>
            <a:r>
              <a:t>Tinker handles GPU allocation, model loading, and checkpointing - you just write training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LoRA: Low-Rank Adaptation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286000" cy="2286000"/>
          </a:xfrm>
          <a:prstGeom prst="roundRect">
            <a:avLst/>
          </a:prstGeom>
          <a:solidFill>
            <a:srgbClr val="666666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W₀</a:t>
            </a:r>
            <a:br/>
            <a:r>
              <a:t>(Frozen)</a:t>
            </a:r>
            <a:br/>
            <a:br/>
            <a:r>
              <a:t>d ×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464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</a:defRPr>
            </a:pPr>
            <a:r>
              <a:t>+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731520" cy="2286000"/>
          </a:xfrm>
          <a:prstGeom prst="roundRect">
            <a:avLst/>
          </a:prstGeom>
          <a:solidFill>
            <a:srgbClr val="4169E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</a:t>
            </a:r>
            <a:br/>
            <a:r>
              <a:t>d×r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286000"/>
            <a:ext cx="1828800" cy="731520"/>
          </a:xfrm>
          <a:prstGeom prst="roundRect">
            <a:avLst/>
          </a:prstGeom>
          <a:solidFill>
            <a:srgbClr val="4169E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 (r×d)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8288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1A2E"/>
                </a:solidFill>
              </a:defRPr>
            </a:pPr>
            <a: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1A2E"/>
                </a:solidFill>
              </a:defRPr>
            </a:pPr>
            <a:r>
              <a:t>=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1828800" cy="2286000"/>
          </a:xfrm>
          <a:prstGeom prst="roundRect">
            <a:avLst/>
          </a:prstGeom>
          <a:solidFill>
            <a:srgbClr val="28A745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W₀ + BA</a:t>
            </a:r>
            <a:br/>
            <a:r>
              <a:t>(Effective)</a:t>
            </a:r>
            <a:br/>
            <a:br/>
            <a:r>
              <a:t>d × 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97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66666"/>
                </a:solidFill>
              </a:defRPr>
            </a:pPr>
            <a:r>
              <a:t>Original model</a:t>
            </a:r>
            <a:br/>
            <a:r>
              <a:t>weights (billions)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4297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4169E1"/>
                </a:solidFill>
              </a:defRPr>
            </a:pPr>
            <a:r>
              <a:t>LoRA adapters</a:t>
            </a:r>
            <a:br/>
            <a:r>
              <a:t>(millions)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2976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8A745"/>
                </a:solidFill>
              </a:defRPr>
            </a:pPr>
            <a:r>
              <a:t>Combined for</a:t>
            </a:r>
            <a:br/>
            <a:r>
              <a:t>inference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3035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A1A2E"/>
                </a:solidFill>
              </a:defRPr>
            </a:pPr>
            <a:r>
              <a:t>rank r &lt;&lt; d: Train only ~0.1% of parameters while preserving model capabilities</a:t>
            </a:r>
          </a:p>
          <a:p>
            <a:pPr algn="ctr">
              <a:defRPr sz="1200">
                <a:solidFill>
                  <a:srgbClr val="666666"/>
                </a:solidFill>
              </a:defRPr>
            </a:pPr>
            <a:r>
              <a:t>Example: d=4096, r=32 → 99.2% fewer trainable parameters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Reinforcement Learning Training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2560320"/>
            <a:ext cx="1828800" cy="1097280"/>
          </a:xfrm>
          <a:prstGeom prst="roundRect">
            <a:avLst/>
          </a:prstGeom>
          <a:solidFill>
            <a:srgbClr val="4169E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LLM</a:t>
            </a:r>
            <a:br/>
            <a:r>
              <a:t>(Policy π)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2560320"/>
            <a:ext cx="1828800" cy="1097280"/>
          </a:xfrm>
          <a:prstGeom prst="roundRect">
            <a:avLst/>
          </a:prstGeom>
          <a:solidFill>
            <a:srgbClr val="28A745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Environment</a:t>
            </a:r>
            <a:br/>
            <a:r>
              <a:t>(Task)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4572000"/>
            <a:ext cx="1828800" cy="822960"/>
          </a:xfrm>
          <a:prstGeom prst="roundRect">
            <a:avLst/>
          </a:prstGeom>
          <a:solidFill>
            <a:srgbClr val="FF8C0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Reward r(s,a)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60320"/>
            <a:ext cx="1828800" cy="1097280"/>
          </a:xfrm>
          <a:prstGeom prst="roundRect">
            <a:avLst/>
          </a:prstGeom>
          <a:solidFill>
            <a:srgbClr val="6F42C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Optimizer</a:t>
            </a:r>
            <a:br/>
            <a:r>
              <a:t>(LoRA SGD)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486400" y="2971800"/>
            <a:ext cx="128016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7635240" y="3703320"/>
            <a:ext cx="228600" cy="77724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ft Arrow 8"/>
          <p:cNvSpPr/>
          <p:nvPr/>
        </p:nvSpPr>
        <p:spPr>
          <a:xfrm>
            <a:off x="2377440" y="4754880"/>
            <a:ext cx="4389120" cy="228600"/>
          </a:xfrm>
          <a:prstGeom prst="lef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1234440" y="3703320"/>
            <a:ext cx="228600" cy="594360"/>
          </a:xfrm>
          <a:prstGeom prst="up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2286000" y="2971800"/>
            <a:ext cx="128016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26060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66666"/>
                </a:solidFill>
              </a:defRPr>
            </a:pPr>
            <a:r>
              <a:t>action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0233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66666"/>
                </a:solidFill>
              </a:defRPr>
            </a:pPr>
            <a:r>
              <a:t>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4348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66666"/>
                </a:solidFill>
              </a:defRPr>
            </a:pPr>
            <a:r>
              <a:t>gradient ∇J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6060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66666"/>
                </a:solidFill>
              </a:defRPr>
            </a:pPr>
            <a:r>
              <a:t>θ 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3832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</a:defRPr>
            </a:pPr>
            <a:r>
              <a:t>state s'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6692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A1A2E"/>
                </a:solidFill>
                <a:latin typeface="Courier New"/>
              </a:defRPr>
            </a:pPr>
            <a:r>
              <a:t>Objective: J(θ) = E[Σ r(s,a)] → maximize expected reward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Knowledge Distillation: Teacher → Student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0" y="1188720"/>
            <a:ext cx="2743200" cy="1097280"/>
          </a:xfrm>
          <a:prstGeom prst="roundRect">
            <a:avLst/>
          </a:prstGeom>
          <a:solidFill>
            <a:srgbClr val="6F42C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Teacher Model</a:t>
            </a:r>
            <a:br/>
            <a:r>
              <a:t>(Large, Frozen)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4389120"/>
            <a:ext cx="2743200" cy="1097280"/>
          </a:xfrm>
          <a:prstGeom prst="roundRect">
            <a:avLst/>
          </a:prstGeom>
          <a:solidFill>
            <a:srgbClr val="4169E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Student Model</a:t>
            </a:r>
            <a:br/>
            <a:r>
              <a:t>(Small, Training)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743200"/>
            <a:ext cx="1645920" cy="822960"/>
          </a:xfrm>
          <a:prstGeom prst="roundRect">
            <a:avLst/>
          </a:prstGeom>
          <a:solidFill>
            <a:srgbClr val="F0F0F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2E"/>
                </a:solidFill>
              </a:defRPr>
            </a:pPr>
            <a:r>
              <a:t>Input x</a:t>
            </a:r>
          </a:p>
        </p:txBody>
      </p:sp>
      <p:sp>
        <p:nvSpPr>
          <p:cNvPr id="6" name="Oval 5"/>
          <p:cNvSpPr/>
          <p:nvPr/>
        </p:nvSpPr>
        <p:spPr>
          <a:xfrm>
            <a:off x="3886200" y="2651760"/>
            <a:ext cx="1371600" cy="1097280"/>
          </a:xfrm>
          <a:prstGeom prst="ellipse">
            <a:avLst/>
          </a:prstGeom>
          <a:solidFill>
            <a:srgbClr val="FF8C00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KL</a:t>
            </a:r>
            <a:br/>
            <a:r>
              <a:t>Loss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463040"/>
            <a:ext cx="1828800" cy="731520"/>
          </a:xfrm>
          <a:prstGeom prst="roundRect">
            <a:avLst/>
          </a:prstGeom>
          <a:solidFill>
            <a:srgbClr val="6F42C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P_T(y|x)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4663440"/>
            <a:ext cx="1828800" cy="731520"/>
          </a:xfrm>
          <a:prstGeom prst="roundRect">
            <a:avLst/>
          </a:prstGeom>
          <a:solidFill>
            <a:srgbClr val="4169E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P_S(y|x)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20240" y="1645920"/>
            <a:ext cx="118872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920240" y="4800600"/>
            <a:ext cx="118872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4434840" y="2331720"/>
            <a:ext cx="228600" cy="27432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 Arrow 11"/>
          <p:cNvSpPr/>
          <p:nvPr/>
        </p:nvSpPr>
        <p:spPr>
          <a:xfrm>
            <a:off x="4434840" y="3794760"/>
            <a:ext cx="228600" cy="548640"/>
          </a:xfrm>
          <a:prstGeom prst="up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5943600" y="1691640"/>
            <a:ext cx="82296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943600" y="4892040"/>
            <a:ext cx="82296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A1A2E"/>
                </a:solidFill>
                <a:latin typeface="Courier New"/>
              </a:defRPr>
            </a:pPr>
            <a:r>
              <a:t>Loss = KL(P_T || P_S) = Σ P_T(y) log(P_T(y)/P_S(y))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Pairwise Preference Learning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" y="2103120"/>
            <a:ext cx="1645920" cy="914400"/>
          </a:xfrm>
          <a:prstGeom prst="roundRect">
            <a:avLst/>
          </a:prstGeom>
          <a:solidFill>
            <a:srgbClr val="F0F0F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A1A2E"/>
                </a:solidFill>
              </a:defRPr>
            </a:pPr>
            <a:r>
              <a:t>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103120"/>
            <a:ext cx="1463040" cy="914400"/>
          </a:xfrm>
          <a:prstGeom prst="roundRect">
            <a:avLst/>
          </a:prstGeom>
          <a:solidFill>
            <a:srgbClr val="4169E1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LLM</a:t>
            </a:r>
            <a:br/>
            <a:r>
              <a:t>×4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188720"/>
            <a:ext cx="1645920" cy="731520"/>
          </a:xfrm>
          <a:prstGeom prst="roundRect">
            <a:avLst/>
          </a:prstGeom>
          <a:solidFill>
            <a:srgbClr val="DC3545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A: 120 tok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103120"/>
            <a:ext cx="1645920" cy="731520"/>
          </a:xfrm>
          <a:prstGeom prst="roundRect">
            <a:avLst/>
          </a:prstGeom>
          <a:solidFill>
            <a:srgbClr val="FF8C0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B: 80 tok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3017520"/>
            <a:ext cx="1645920" cy="731520"/>
          </a:xfrm>
          <a:prstGeom prst="roundRect">
            <a:avLst/>
          </a:prstGeom>
          <a:solidFill>
            <a:srgbClr val="90EE90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A1A2E"/>
                </a:solidFill>
              </a:defRPr>
            </a:pPr>
            <a:r>
              <a:t>C: 50 tok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3931920"/>
            <a:ext cx="1645920" cy="731520"/>
          </a:xfrm>
          <a:prstGeom prst="roundRect">
            <a:avLst/>
          </a:prstGeom>
          <a:solidFill>
            <a:srgbClr val="28A745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D: 35 tok</a:t>
            </a:r>
          </a:p>
        </p:txBody>
      </p:sp>
      <p:sp>
        <p:nvSpPr>
          <p:cNvPr id="9" name="Oval 8"/>
          <p:cNvSpPr/>
          <p:nvPr/>
        </p:nvSpPr>
        <p:spPr>
          <a:xfrm>
            <a:off x="6400800" y="2286000"/>
            <a:ext cx="1280160" cy="1097280"/>
          </a:xfrm>
          <a:prstGeom prst="ellipse">
            <a:avLst/>
          </a:prstGeom>
          <a:solidFill>
            <a:srgbClr val="6F42C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Compare</a:t>
            </a:r>
            <a:br/>
            <a:r>
              <a:t>Pairs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2286000"/>
            <a:ext cx="1005840" cy="1097280"/>
          </a:xfrm>
          <a:prstGeom prst="roundRect">
            <a:avLst/>
          </a:prstGeom>
          <a:solidFill>
            <a:srgbClr val="28A745"/>
          </a:solidFill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Winner</a:t>
            </a:r>
            <a:br/>
            <a:r>
              <a:t>→ 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828800" y="2423160"/>
            <a:ext cx="36576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3749039" y="2423160"/>
            <a:ext cx="36576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5852160" y="2697480"/>
            <a:ext cx="45720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7680960" y="2697480"/>
            <a:ext cx="228600" cy="2286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9319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8A745"/>
                </a:solidFill>
              </a:defRPr>
            </a:pPr>
            <a:r>
              <a:t>✓ Win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188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C3545"/>
                </a:solidFill>
              </a:defRPr>
            </a:pPr>
            <a:r>
              <a:t>✗ 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5029200"/>
            <a:ext cx="8595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1A1A2E"/>
                </a:solidFill>
                <a:latin typeface="Courier New"/>
              </a:defRPr>
            </a:pPr>
            <a:r>
              <a:t>reward = (wins - losses) / comparisons + format_bonus</a:t>
            </a:r>
          </a:p>
          <a:p>
            <a:pPr algn="ctr">
              <a:defRPr sz="1200">
                <a:solidFill>
                  <a:srgbClr val="666666"/>
                </a:solidFill>
              </a:defRPr>
            </a:pPr>
            <a:r>
              <a:t>Shorter responses beat longer ones → model learns conciseness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Experiments Conducted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97280"/>
          <a:ext cx="8595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Recipe</a:t>
                      </a:r>
                    </a:p>
                  </a:txBody>
                  <a:tcPr>
                    <a:solidFill>
                      <a:srgbClr val="4169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4169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4169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4169E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4169E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Math 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Arithmetic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Llama-3.2-1B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100% accuracy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Chat SL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Conversation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Llama-3.2-1B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Running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NLL: 2.5→1.8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Shorter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Qwen-0.6B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Running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37% done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Distill (Off)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Reasoning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Llama-3.2-1B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Running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SFT active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Distill (On)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KL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Llama-3.2-1B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Running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KL: 2.88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GSM8K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Word Problems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Llama-3.2-1B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Running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Multi-step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Math RL Results: Learning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27432" cy="38404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5029200"/>
            <a:ext cx="5029200" cy="2743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0.8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0.6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0.4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0.2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1206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1206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1206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51206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51206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74320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539496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1A2E"/>
                </a:solidFill>
              </a:defRPr>
            </a:pPr>
            <a:r>
              <a:t>Step</a:t>
            </a:r>
          </a:p>
        </p:txBody>
      </p:sp>
      <p:sp>
        <p:nvSpPr>
          <p:cNvPr id="17" name="Oval 16"/>
          <p:cNvSpPr/>
          <p:nvPr/>
        </p:nvSpPr>
        <p:spPr>
          <a:xfrm>
            <a:off x="1463039" y="3566160"/>
            <a:ext cx="182880" cy="182880"/>
          </a:xfrm>
          <a:prstGeom prst="ellipse">
            <a:avLst/>
          </a:prstGeom>
          <a:solidFill>
            <a:srgbClr val="28A745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32461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8A745"/>
                </a:solidFill>
              </a:defRPr>
            </a:pPr>
            <a:r>
              <a:t>0.67</a:t>
            </a:r>
          </a:p>
        </p:txBody>
      </p:sp>
      <p:sp>
        <p:nvSpPr>
          <p:cNvPr id="19" name="Oval 18"/>
          <p:cNvSpPr/>
          <p:nvPr/>
        </p:nvSpPr>
        <p:spPr>
          <a:xfrm>
            <a:off x="2468879" y="2286000"/>
            <a:ext cx="182880" cy="182880"/>
          </a:xfrm>
          <a:prstGeom prst="ellipse">
            <a:avLst/>
          </a:prstGeom>
          <a:solidFill>
            <a:srgbClr val="28A745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77439" y="19659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8A745"/>
                </a:solidFill>
              </a:defRPr>
            </a:pPr>
            <a:r>
              <a:t>0.85</a:t>
            </a:r>
          </a:p>
        </p:txBody>
      </p:sp>
      <p:sp>
        <p:nvSpPr>
          <p:cNvPr id="21" name="Oval 20"/>
          <p:cNvSpPr/>
          <p:nvPr/>
        </p:nvSpPr>
        <p:spPr>
          <a:xfrm>
            <a:off x="3474720" y="1645919"/>
            <a:ext cx="182880" cy="182880"/>
          </a:xfrm>
          <a:prstGeom prst="ellipse">
            <a:avLst/>
          </a:prstGeom>
          <a:solidFill>
            <a:srgbClr val="28A745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79" y="1325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8A745"/>
                </a:solidFill>
              </a:defRPr>
            </a:pPr>
            <a:r>
              <a:t>0.95</a:t>
            </a:r>
          </a:p>
        </p:txBody>
      </p:sp>
      <p:sp>
        <p:nvSpPr>
          <p:cNvPr id="23" name="Oval 22"/>
          <p:cNvSpPr/>
          <p:nvPr/>
        </p:nvSpPr>
        <p:spPr>
          <a:xfrm>
            <a:off x="4480560" y="1325880"/>
            <a:ext cx="182880" cy="182880"/>
          </a:xfrm>
          <a:prstGeom prst="ellipse">
            <a:avLst/>
          </a:prstGeom>
          <a:solidFill>
            <a:srgbClr val="28A745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10058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8A745"/>
                </a:solidFill>
              </a:defRPr>
            </a:pPr>
            <a:r>
              <a:t>0.99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0" y="1143000"/>
            <a:ext cx="182880" cy="182880"/>
          </a:xfrm>
          <a:prstGeom prst="ellipse">
            <a:avLst/>
          </a:prstGeom>
          <a:solidFill>
            <a:srgbClr val="28A745"/>
          </a:solidFill>
          <a:ln>
            <a:solidFill>
              <a:srgbClr val="1A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59" y="8229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8A745"/>
                </a:solidFill>
              </a:defRPr>
            </a:pPr>
            <a:r>
              <a:t>1.00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1371600"/>
            <a:ext cx="2194560" cy="2286000"/>
          </a:xfrm>
          <a:prstGeom prst="roundRect">
            <a:avLst/>
          </a:prstGeom>
          <a:solidFill>
            <a:srgbClr val="F0F0F0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1463040"/>
            <a:ext cx="2011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1A2E"/>
                </a:solidFill>
              </a:defRPr>
            </a:pPr>
            <a:r>
              <a:t>Key Results:</a:t>
            </a:r>
          </a:p>
          <a:p>
            <a:pPr>
              <a:defRPr sz="1100">
                <a:solidFill>
                  <a:srgbClr val="666666"/>
                </a:solidFill>
              </a:defRPr>
            </a:pPr>
            <a:r>
              <a:t>• 69.5% → 100%</a:t>
            </a:r>
          </a:p>
          <a:p>
            <a:pPr>
              <a:defRPr sz="1100">
                <a:solidFill>
                  <a:srgbClr val="666666"/>
                </a:solidFill>
              </a:defRPr>
            </a:pPr>
            <a:r>
              <a:t>• Converged in 20 steps</a:t>
            </a:r>
          </a:p>
          <a:p>
            <a:pPr>
              <a:defRPr sz="1100">
                <a:solidFill>
                  <a:srgbClr val="666666"/>
                </a:solidFill>
              </a:defRPr>
            </a:pPr>
            <a:r>
              <a:t>• ~2 min training</a:t>
            </a:r>
          </a:p>
          <a:p>
            <a:pPr>
              <a:defRPr sz="1100">
                <a:solidFill>
                  <a:srgbClr val="666666"/>
                </a:solidFill>
              </a:defRPr>
            </a:pPr>
            <a:r>
              <a:t>• Perfect accuracy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1A2E"/>
                </a:solidFill>
              </a:defRPr>
            </a:pPr>
            <a:r>
              <a:t>Example: Math RL Training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822960"/>
            <a:ext cx="8595360" cy="530352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0FF00"/>
                </a:solidFill>
                <a:latin typeface="Courier New"/>
              </a:defRPr>
            </a:pPr>
            <a:r>
              <a:t># Install Tinker</a:t>
            </a:r>
            <a:br/>
            <a:r>
              <a:t>pip install tinker tinker-cookbook</a:t>
            </a:r>
            <a:br/>
            <a:br/>
            <a:r>
              <a:t># Set API key</a:t>
            </a:r>
            <a:br/>
            <a:r>
              <a:t>export TINKER_API_KEY="your-key-here"</a:t>
            </a:r>
            <a:br/>
            <a:br/>
            <a:r>
              <a:t># Run RL training</a:t>
            </a:r>
            <a:br/>
            <a:r>
              <a:t>python -m tinker_cookbook.recipes.math_rl.train \</a:t>
            </a:r>
            <a:br/>
            <a:r>
              <a:t>    model_name="meta-llama/Llama-3.2-1B" \</a:t>
            </a:r>
            <a:br/>
            <a:r>
              <a:t>    env=arithmetic \</a:t>
            </a:r>
            <a:br/>
            <a:r>
              <a:t>    group_size=4 \</a:t>
            </a:r>
            <a:br/>
            <a:r>
              <a:t>    groups_per_batch=100 \</a:t>
            </a:r>
            <a:br/>
            <a:r>
              <a:t>    learning_rate=1e-4</a:t>
            </a:r>
            <a:br/>
            <a:br/>
            <a:r>
              <a:t># Output:</a:t>
            </a:r>
            <a:br/>
            <a:r>
              <a:t># Step 0:  reward=0.676, correct=69.5%</a:t>
            </a:r>
            <a:br/>
            <a:r>
              <a:t># Step 10: reward=0.998, correct=99.8%</a:t>
            </a:r>
            <a:br/>
            <a:r>
              <a:t># Step 20: reward=1.000, correct=100%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Jupyter Notebooks Created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01_math_rl_arithmetic.ipynb - Basic RL for addition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02_chat_sl_sft.ipynb - Supervised fine-tuning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03_preference_shorter.ipynb - Pairwise preference learning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04_distillation_off_policy.ipynb - SFT distillation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05_distillation_on_policy.ipynb - KL distillation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06_math_rl_gsm8k.ipynb - Word problem solving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Simple tasks (arithmetic): RL achieves 100% in ~20 steps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Complex tasks (GSM8K): Requires more training, larger models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Preference learning: Effective for stylistic control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Distillation: Efficient knowledge transfer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Cloud training: Accessible without local GPUs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Code generation with sandbox (DeepCoder)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Multi-agent RL training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RLHF with human preference data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Scaling to larger models (8B, 32B)</a:t>
            </a:r>
          </a:p>
          <a:p>
            <a:pPr>
              <a:spcAft>
                <a:spcPts val="1200"/>
              </a:spcAft>
              <a:defRPr sz="2000">
                <a:solidFill>
                  <a:srgbClr val="333333"/>
                </a:solidFill>
              </a:defRPr>
            </a:pPr>
            <a:r>
              <a:t>• Custom reward functions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</a:defRPr>
            </a:pPr>
            <a:r>
              <a:t>Questions?</a:t>
            </a:r>
            <a:br/>
            <a:br/>
            <a:r>
              <a:t>pes-llm-research/tinker-experiments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